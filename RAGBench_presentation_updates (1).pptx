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827633" cy="496193"/>
          </a:xfrm>
          <a:prstGeom prst="rect">
            <a:avLst/>
          </a:prstGeom>
          <a:solidFill>
            <a:srgbClr val="16A34A">
              <a:alpha val="15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3025" y="847725"/>
            <a:ext cx="50378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spc="132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2123033" y="762000"/>
            <a:ext cx="827633" cy="496193"/>
          </a:xfrm>
          <a:prstGeom prst="rect">
            <a:avLst/>
          </a:prstGeom>
          <a:solidFill>
            <a:srgbClr val="D97706">
              <a:alpha val="15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23058" y="847725"/>
            <a:ext cx="50378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spc="132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103066" y="762000"/>
            <a:ext cx="827633" cy="496193"/>
          </a:xfrm>
          <a:prstGeom prst="rect">
            <a:avLst/>
          </a:prstGeom>
          <a:solidFill>
            <a:srgbClr val="2563EB">
              <a:alpha val="15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3091" y="847725"/>
            <a:ext cx="50378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spc="132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083100" y="762000"/>
            <a:ext cx="827633" cy="496193"/>
          </a:xfrm>
          <a:prstGeom prst="rect">
            <a:avLst/>
          </a:prstGeom>
          <a:solidFill>
            <a:srgbClr val="7C3AED">
              <a:alpha val="15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3125" y="847725"/>
            <a:ext cx="50378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spc="132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3000" y="3066157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PROJECT 2026 · RAG GROUP 5 · BATCH 26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12753975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409"/>
              </a:lnSpc>
              <a:buNone/>
            </a:pPr>
            <a:r>
              <a:rPr lang="en-US" sz="6750" b="1" spc="-169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and Evaluating RAG Systems with RAGBench</a:t>
            </a:r>
            <a:endParaRPr lang="en-US" sz="6750" dirty="0"/>
          </a:p>
        </p:txBody>
      </p:sp>
      <p:sp>
        <p:nvSpPr>
          <p:cNvPr id="12" name="Text 10"/>
          <p:cNvSpPr/>
          <p:nvPr/>
        </p:nvSpPr>
        <p:spPr>
          <a:xfrm>
            <a:off x="1143000" y="5800725"/>
            <a:ext cx="88296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Multi-Domain Study — Biomedical · Legal · Financial · General Knowledge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8683228"/>
            <a:ext cx="8117782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Arhan · Dhananjay · Pritvish · Venkat </a:t>
            </a:r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 Certification Programme in AI/ML · IIIT Hyderabad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5481995" y="8667750"/>
            <a:ext cx="166300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391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Evaluation Framework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733377"/>
            <a:ext cx="1444823" cy="889546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2971502"/>
            <a:ext cx="892373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892623" y="2971502"/>
            <a:ext cx="22294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344168" y="2526804"/>
            <a:ext cx="2097732" cy="1302841"/>
          </a:xfrm>
          <a:prstGeom prst="rect">
            <a:avLst/>
          </a:prstGeom>
          <a:solidFill>
            <a:srgbClr val="2563EB">
              <a:alpha val="15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0393" y="2764929"/>
            <a:ext cx="154528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/>
                </a:solidFill>
                <a:highlight>
                  <a:srgbClr val="DEE8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Librarian 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746700" y="2971502"/>
            <a:ext cx="22294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98245" y="2526804"/>
            <a:ext cx="2097732" cy="1302841"/>
          </a:xfrm>
          <a:prstGeom prst="rect">
            <a:avLst/>
          </a:prstGeom>
          <a:solidFill>
            <a:srgbClr val="7C3AED">
              <a:alpha val="15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4470" y="2764929"/>
            <a:ext cx="154528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/>
                </a:solidFill>
                <a:highlight>
                  <a:srgbClr val="EBE1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00777" y="2971502"/>
            <a:ext cx="22294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052322" y="2526804"/>
            <a:ext cx="1678037" cy="1302841"/>
          </a:xfrm>
          <a:prstGeom prst="rect">
            <a:avLst/>
          </a:prstGeom>
          <a:solidFill>
            <a:srgbClr val="16A34A">
              <a:alpha val="15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8547" y="2764929"/>
            <a:ext cx="1125587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/>
                </a:solidFill>
                <a:highlight>
                  <a:srgbClr val="DCF1E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035159" y="2971502"/>
            <a:ext cx="22294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86704" y="2526804"/>
            <a:ext cx="2144316" cy="1302841"/>
          </a:xfrm>
          <a:prstGeom prst="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2929" y="2764929"/>
            <a:ext cx="1591866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0EDE8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· U · C · 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43000" y="4286845"/>
            <a:ext cx="7848600" cy="1880890"/>
          </a:xfrm>
          <a:prstGeom prst="rect">
            <a:avLst/>
          </a:prstGeom>
          <a:solidFill>
            <a:srgbClr val="EC3013">
              <a:alpha val="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286845"/>
            <a:ext cx="38100" cy="188089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4515445"/>
            <a:ext cx="800481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CONSTRAINT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47800" y="4964906"/>
            <a:ext cx="7495413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Judge must be a different model family from the Generator — self-evaluation bias collapses adherence detection below random chance.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296400" y="4286845"/>
            <a:ext cx="38100" cy="188089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4515445"/>
            <a:ext cx="800481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LOOP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4964906"/>
            <a:ext cx="7495413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Observe → 02 Configure → 03 Evaluate Repeated across 35+ iterations per domain. Decisions driven by checkpoint metrics only — not expectations.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 SPACE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391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Tunable Parameters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26804"/>
            <a:ext cx="3829050" cy="2101155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2803029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81125" y="3193554"/>
            <a:ext cx="368808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embed_model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81125" y="3672632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 variant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00650" y="2526804"/>
            <a:ext cx="3829050" cy="2101155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38775" y="2803029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38775" y="3193554"/>
            <a:ext cx="34533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top_k_retrieve top_k_final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38775" y="4056459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fetch → reranked set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58300" y="2526804"/>
            <a:ext cx="3829050" cy="2101155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6425" y="2803029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96425" y="3193554"/>
            <a:ext cx="368808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chunking_strategy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96425" y="3672632"/>
            <a:ext cx="3453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/ sentence-window / parent-child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315950" y="2526804"/>
            <a:ext cx="3829050" cy="2101155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54075" y="2803029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54075" y="3193554"/>
            <a:ext cx="368808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judge_model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554075" y="3672632"/>
            <a:ext cx="3453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 differ from generator family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4856559"/>
            <a:ext cx="3829050" cy="2396430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1125" y="5132784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81125" y="5523309"/>
            <a:ext cx="368808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prompt_style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81125" y="6002387"/>
            <a:ext cx="3453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/ CoT / JSON dual-track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200650" y="4856559"/>
            <a:ext cx="3829050" cy="2396430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8775" y="5132784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38775" y="5523309"/>
            <a:ext cx="368808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generator_temp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5438775" y="6002387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output diversity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58300" y="4856559"/>
            <a:ext cx="3829050" cy="2396430"/>
          </a:xfrm>
          <a:prstGeom prst="rect">
            <a:avLst/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96425" y="5132784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RERANKING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96425" y="5523309"/>
            <a:ext cx="34533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use_mmr mmr_lambda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496425" y="6386215"/>
            <a:ext cx="3453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MMR diversity vs. relevance trade-off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315950" y="4856559"/>
            <a:ext cx="3829050" cy="2396430"/>
          </a:xfrm>
          <a:prstGeom prst="rect">
            <a:avLst/>
          </a:prstGeom>
          <a:solidFill>
            <a:srgbClr val="EC3013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554075" y="5132784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50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554075" y="5523309"/>
            <a:ext cx="34533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+ Dense RRF fusion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554075" y="6386215"/>
            <a:ext cx="3453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Reciprocal Rank Fusion weighting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EVALUATION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391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Metrics, One Pipeline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450604"/>
            <a:ext cx="3829050" cy="7074396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8750" y="2774454"/>
            <a:ext cx="457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27744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28750" y="3365004"/>
            <a:ext cx="35833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3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428750" y="4118372"/>
            <a:ext cx="3355277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the Librarian fetch useful documents? Fraction of retrieved sentences actually relevant to the question.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428750" y="8286750"/>
            <a:ext cx="3257550" cy="485775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1562100" y="8382000"/>
            <a:ext cx="3088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relevant ÷ all retrieved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28750" y="8905875"/>
            <a:ext cx="35833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6B7280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↓ lower is better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0650" y="2450604"/>
            <a:ext cx="3829050" cy="7074396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774454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48300" y="27744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86400" y="3365004"/>
            <a:ext cx="35833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3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5486400" y="4118372"/>
            <a:ext cx="3355277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the Generator use what it was given? Fraction of retrieved sentences appearing in the response.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0" y="8286750"/>
            <a:ext cx="3257550" cy="485775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8" name="Text 16"/>
          <p:cNvSpPr/>
          <p:nvPr/>
        </p:nvSpPr>
        <p:spPr>
          <a:xfrm>
            <a:off x="5619750" y="8382000"/>
            <a:ext cx="3088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utilized ÷ all retrieved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8905875"/>
            <a:ext cx="35833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6B7280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↓ lower is better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258300" y="2450604"/>
            <a:ext cx="3829050" cy="7074396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4050" y="2774454"/>
            <a:ext cx="4572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9505950" y="27744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44050" y="3365004"/>
            <a:ext cx="35833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31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9544050" y="4118372"/>
            <a:ext cx="3355277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the Generator cover all evidence? Of the relevant sentences, how many made it into the answer.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544050" y="7991475"/>
            <a:ext cx="3257550" cy="78105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9677400" y="8086725"/>
            <a:ext cx="308857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(utilized ∩ relevant) ÷ relevant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44050" y="8905875"/>
            <a:ext cx="35833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6B7280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↓ lower is better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315950" y="2450604"/>
            <a:ext cx="3829050" cy="7074396"/>
          </a:xfrm>
          <a:prstGeom prst="rect">
            <a:avLst/>
          </a:prstGeom>
          <a:solidFill>
            <a:srgbClr val="FFF5F3"/>
          </a:solidFill>
          <a:ln w="19050">
            <a:solidFill>
              <a:srgbClr val="EC30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601700" y="2774454"/>
            <a:ext cx="457200" cy="4572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0" name="Text 28"/>
          <p:cNvSpPr/>
          <p:nvPr/>
        </p:nvSpPr>
        <p:spPr>
          <a:xfrm>
            <a:off x="13563600" y="27744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601700" y="3365004"/>
            <a:ext cx="35833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3150" b="1" dirty="0">
                <a:solidFill>
                  <a:srgbClr val="C02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13601700" y="4118372"/>
            <a:ext cx="3355277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the Generator stay grounded? Hallucination detection — every response sentence must be verifiable in the source docs.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3601700" y="7696200"/>
            <a:ext cx="3257550" cy="781050"/>
          </a:xfrm>
          <a:prstGeom prst="rect">
            <a:avLst/>
          </a:prstGeom>
          <a:solidFill>
            <a:srgbClr val="FEE2DA"/>
          </a:solidFill>
          <a:ln/>
        </p:spPr>
      </p:sp>
      <p:sp>
        <p:nvSpPr>
          <p:cNvPr id="34" name="Text 32"/>
          <p:cNvSpPr/>
          <p:nvPr/>
        </p:nvSpPr>
        <p:spPr>
          <a:xfrm>
            <a:off x="13735050" y="7791450"/>
            <a:ext cx="308857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C02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AUROC over hallucination flag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601700" y="8610600"/>
            <a:ext cx="335527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6B7280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= random · 1.0 = perfect ↑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2385417" cy="679996"/>
          </a:xfrm>
          <a:prstGeom prst="rect">
            <a:avLst/>
          </a:prstGeom>
          <a:solidFill>
            <a:srgbClr val="16A34A">
              <a:alpha val="20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8750" y="895350"/>
            <a:ext cx="1890117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spc="168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BIOMEDICAL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1822996"/>
            <a:ext cx="854964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CovidQA &amp; PubMedQA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958257"/>
            <a:ext cx="7772400" cy="2530376"/>
          </a:xfrm>
          <a:prstGeom prst="rect">
            <a:avLst/>
          </a:prstGeom>
          <a:solidFill>
            <a:srgbClr val="16A34A">
              <a:alpha val="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958257"/>
            <a:ext cx="38100" cy="25303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3186857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CHARACTERISTICS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7800" y="3636318"/>
            <a:ext cx="7416927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CovidQA contains longer documents (avg 582 chars). The judge over-credits more sentences as "relevant" for longer docs — mechanically inflating completeness RMSE regardless of config. A structural annotation-level issue, not tunable.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5793432"/>
            <a:ext cx="38100" cy="155614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6022032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7800" y="6471493"/>
            <a:ext cx="7416927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CovidQA harder than PubMedQA. Chunk size and retrieval depth matter more than prompt style for this domain.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372600" y="1822996"/>
            <a:ext cx="7772400" cy="1871365"/>
          </a:xfrm>
          <a:prstGeom prst="rect">
            <a:avLst/>
          </a:prstGeom>
          <a:solidFill>
            <a:srgbClr val="16A34A">
              <a:alpha val="5000"/>
            </a:srgbClr>
          </a:solidFill>
          <a:ln w="9525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8825" y="2099221"/>
            <a:ext cx="794194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99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48825" y="2576364"/>
            <a:ext cx="7436549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CovidQA PubMedQA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72600" y="3922961"/>
            <a:ext cx="7772400" cy="1871365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8825" y="4199186"/>
            <a:ext cx="794194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99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CONFIG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48825" y="4676329"/>
            <a:ext cx="7436549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v81 </a:t>
            </a:r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0.929 Adherence AUROC 800-char chunks · hybrid retrieval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BIOMEDICAL · COVIDQA + PUBMEDQA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010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AUROC — Top Configurations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861965"/>
            <a:ext cx="9001125" cy="190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18159"/>
            <a:ext cx="190500" cy="190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336304"/>
            <a:ext cx="230848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Adherence AUROC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79775" y="2365772"/>
            <a:ext cx="64122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higher is better · 0.50 = random chance (dashed)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6081415"/>
            <a:ext cx="9001125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538365"/>
            <a:ext cx="9001125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0" name="Text 8"/>
          <p:cNvSpPr/>
          <p:nvPr/>
        </p:nvSpPr>
        <p:spPr>
          <a:xfrm>
            <a:off x="9639598" y="4233565"/>
            <a:ext cx="5426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85864" y="3052465"/>
            <a:ext cx="819299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0.923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814513" y="3512493"/>
            <a:ext cx="1885950" cy="256892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5271939" y="3052465"/>
            <a:ext cx="819299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700588" y="3512493"/>
            <a:ext cx="1885950" cy="256892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158014" y="3052465"/>
            <a:ext cx="819299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0.929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586663" y="3512493"/>
            <a:ext cx="1885950" cy="256892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874" y="6233815"/>
            <a:ext cx="310477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v8c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091092" y="6233815"/>
            <a:ext cx="310494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v8e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180473" y="6233815"/>
            <a:ext cx="310477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v81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715625" y="2412504"/>
            <a:ext cx="6429375" cy="2205633"/>
          </a:xfrm>
          <a:prstGeom prst="rect">
            <a:avLst/>
          </a:prstGeom>
          <a:solidFill>
            <a:srgbClr val="16A34A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15625" y="2412504"/>
            <a:ext cx="38100" cy="220563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20425" y="2641104"/>
            <a:ext cx="644366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V81 BEST PERFORMANCE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020425" y="3090565"/>
            <a:ext cx="6033611" cy="1337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800-char chunks with hybrid BM25+dense retrieval (RRF) achieves 0.929 Adherence AUROC — all three configs well above the 0.50 random-chance baseline.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715625" y="4846737"/>
            <a:ext cx="38100" cy="188089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020425" y="5075337"/>
            <a:ext cx="644366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V8E DROP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020425" y="5524798"/>
            <a:ext cx="6033611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v8e shows a dip to 0.870, attributed to larger chunk overlap reducing precision without improving coverage in this domain.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1478459" cy="679996"/>
          </a:xfrm>
          <a:prstGeom prst="rect">
            <a:avLst/>
          </a:prstGeom>
          <a:solidFill>
            <a:srgbClr val="D97706">
              <a:alpha val="20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8750" y="895350"/>
            <a:ext cx="983159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spc="168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1822996"/>
            <a:ext cx="854964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Challenge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920157"/>
            <a:ext cx="7772400" cy="2530376"/>
          </a:xfrm>
          <a:prstGeom prst="rect">
            <a:avLst/>
          </a:prstGeom>
          <a:solidFill>
            <a:srgbClr val="EC3013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920157"/>
            <a:ext cx="38100" cy="2530376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3148757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ADHERENCE–UTILIZATION TRIANGLE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7800" y="3598218"/>
            <a:ext cx="7416927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clause extraction exposes a fundamental tradeoff: maximizing Adherence (hallucination resistance) forces verbose outputs that destroy Utilization precision. Standard prompt engineering cannot escape this triangle — you gain one at the cost of another.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5717232"/>
            <a:ext cx="38100" cy="1880890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5945832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JOURNEY: 35 ITERATIONS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7800" y="6395293"/>
            <a:ext cx="7416927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 generator → 70B → JSON CoT → parent-child retrieval → chunk sizes 256–1024 → custom dual-track prompting at 800-char chunks with hybrid RRF retrieval.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72600" y="1822996"/>
            <a:ext cx="854964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9372600" y="2920157"/>
            <a:ext cx="7772400" cy="3179862"/>
          </a:xfrm>
          <a:prstGeom prst="rect">
            <a:avLst/>
          </a:prstGeom>
          <a:solidFill>
            <a:srgbClr val="D97706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2920157"/>
            <a:ext cx="38100" cy="317986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9677400" y="3148757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JSON DECOUPLING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77400" y="3598218"/>
            <a:ext cx="7416927" cy="231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rich_dual_track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forces the model to reason inside a hidden JSON object, then output only a single extracted sentence. Result: near-perfect Utilization (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0.0599 RMSE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and strong Adherence (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 AUROC </a:t>
            </a:r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simultaneously — escaping the triangle.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372600" y="6366718"/>
            <a:ext cx="38100" cy="188089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77400" y="6595318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V31 PROVES THE THESIS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77400" y="7044779"/>
            <a:ext cx="7416927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Verbatim paper prompt + parent-child gets 0.914 adherence but destroys utilization (0.226). Without structural forcing, you must trade one for the other.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· CLAUSE EXTRACTION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010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vs. Utilization Trade-off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861965"/>
            <a:ext cx="5202585" cy="190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18159"/>
            <a:ext cx="190500" cy="190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336304"/>
            <a:ext cx="230848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Adherence AUROC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79775" y="2373213"/>
            <a:ext cx="2193072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64"/>
              </a:lnSpc>
              <a:buNone/>
            </a:pPr>
            <a:r>
              <a:rPr lang="en-US" sz="142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higher is better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143000" y="5509915"/>
            <a:ext cx="5202585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252615"/>
            <a:ext cx="5202585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0" name="Text 8"/>
          <p:cNvSpPr/>
          <p:nvPr/>
        </p:nvSpPr>
        <p:spPr>
          <a:xfrm>
            <a:off x="5841057" y="3947815"/>
            <a:ext cx="5426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05124" y="3069729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33674" y="3500140"/>
            <a:ext cx="1028998" cy="200977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318" y="3052465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29719" y="3482876"/>
            <a:ext cx="1029146" cy="202703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097363" y="3052465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25913" y="3482876"/>
            <a:ext cx="1028998" cy="2027039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1262033" y="5528965"/>
            <a:ext cx="157228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v19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2958071" y="5528965"/>
            <a:ext cx="157244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v25 ★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654272" y="5528965"/>
            <a:ext cx="157228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v31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802785" y="2861965"/>
            <a:ext cx="5202585" cy="190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02785" y="2418159"/>
            <a:ext cx="190500" cy="190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088535" y="2336304"/>
            <a:ext cx="246237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Utilization RMSE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79459" y="2373213"/>
            <a:ext cx="207127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64"/>
              </a:lnSpc>
              <a:buNone/>
            </a:pPr>
            <a:r>
              <a:rPr lang="en-US" sz="142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lower is better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6802785" y="5509915"/>
            <a:ext cx="5202585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88920" y="4393704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2075" y="4824115"/>
            <a:ext cx="1639639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10333137" y="3052465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56143" y="3482876"/>
            <a:ext cx="1639788" cy="2027039"/>
          </a:xfrm>
          <a:prstGeom prst="rect">
            <a:avLst/>
          </a:prstGeom>
          <a:solidFill>
            <a:srgbClr val="FBBF24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79416" y="5528965"/>
            <a:ext cx="250510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v25 ★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9423477" y="5528965"/>
            <a:ext cx="2505268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v31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462570" y="2412504"/>
            <a:ext cx="4682430" cy="2146697"/>
          </a:xfrm>
          <a:prstGeom prst="rect">
            <a:avLst/>
          </a:prstGeom>
          <a:solidFill>
            <a:srgbClr val="D97706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462570" y="2412504"/>
            <a:ext cx="38100" cy="214669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2767370" y="2641104"/>
            <a:ext cx="452202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V25 ESCAPES THE TRIANGLE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767370" y="3090565"/>
            <a:ext cx="4234258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rich_dual_track prompt: 0.931 adherence AND 0.060 util RMSE — the only config to achieve both simultaneously.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2462570" y="4749701"/>
            <a:ext cx="38100" cy="183668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767370" y="4978301"/>
            <a:ext cx="452202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V31 TRADE-OFF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767370" y="5427762"/>
            <a:ext cx="4234258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0.914 adherence but 0.226 util RMSE — verbatim prompt without structural forcing.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2203996" cy="679996"/>
          </a:xfrm>
          <a:prstGeom prst="rect">
            <a:avLst/>
          </a:prstGeom>
          <a:solidFill>
            <a:srgbClr val="2563EB">
              <a:alpha val="2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8750" y="895350"/>
            <a:ext cx="170869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spc="168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537496" y="939552"/>
            <a:ext cx="219356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TATQA · FINQA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2272457"/>
            <a:ext cx="8721626" cy="190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828651"/>
            <a:ext cx="190500" cy="190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1746796"/>
            <a:ext cx="230848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Adherence AUROC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79775" y="1783705"/>
            <a:ext cx="5238914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64"/>
              </a:lnSpc>
              <a:buNone/>
            </a:pPr>
            <a:r>
              <a:rPr lang="en-US" sz="142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higher is better · 0.50 = random (dashed)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43000" y="5110907"/>
            <a:ext cx="8721626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758357"/>
            <a:ext cx="8721626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1" name="Text 9"/>
          <p:cNvSpPr/>
          <p:nvPr/>
        </p:nvSpPr>
        <p:spPr>
          <a:xfrm>
            <a:off x="9360098" y="3453557"/>
            <a:ext cx="5426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17105" y="2775496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2359" y="3205907"/>
            <a:ext cx="1855291" cy="1905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160764" y="2584996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6018" y="3015407"/>
            <a:ext cx="1855440" cy="2095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004572" y="3356521"/>
            <a:ext cx="7621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19826" y="3786932"/>
            <a:ext cx="1855291" cy="1323975"/>
          </a:xfrm>
          <a:prstGeom prst="rect">
            <a:avLst/>
          </a:prstGeom>
          <a:solidFill>
            <a:srgbClr val="60A5F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42752" y="5129957"/>
            <a:ext cx="283465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(base)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086404" y="5129957"/>
            <a:ext cx="283481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v3/v4/v5 ★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930219" y="5129957"/>
            <a:ext cx="283465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436126" y="1746796"/>
            <a:ext cx="737976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32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IMPROVEMENT V2 → V4 (FINQA)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36126" y="2262039"/>
            <a:ext cx="3278237" cy="1315343"/>
          </a:xfrm>
          <a:prstGeom prst="rect">
            <a:avLst/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92241" y="2462064"/>
            <a:ext cx="316600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3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↓59%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0492241" y="3082082"/>
            <a:ext cx="31660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 RMSE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3866763" y="2262039"/>
            <a:ext cx="3278237" cy="1315343"/>
          </a:xfrm>
          <a:prstGeom prst="rect">
            <a:avLst/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922879" y="2462064"/>
            <a:ext cx="316600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3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↓68%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3922879" y="3082082"/>
            <a:ext cx="31660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 RMSE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36126" y="3729782"/>
            <a:ext cx="3278237" cy="1315343"/>
          </a:xfrm>
          <a:prstGeom prst="rect">
            <a:avLst/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92241" y="3929807"/>
            <a:ext cx="316600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3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↓58%</a:t>
            </a:r>
            <a:endParaRPr lang="en-US" sz="3150" dirty="0"/>
          </a:p>
        </p:txBody>
      </p:sp>
      <p:sp>
        <p:nvSpPr>
          <p:cNvPr id="30" name="Text 28"/>
          <p:cNvSpPr/>
          <p:nvPr/>
        </p:nvSpPr>
        <p:spPr>
          <a:xfrm>
            <a:off x="10492241" y="4549825"/>
            <a:ext cx="31660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 RMSE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866763" y="3729782"/>
            <a:ext cx="3278237" cy="1315343"/>
          </a:xfrm>
          <a:prstGeom prst="rect">
            <a:avLst/>
          </a:prstGeom>
          <a:solidFill>
            <a:srgbClr val="EC3013">
              <a:alpha val="10000"/>
            </a:srgbClr>
          </a:solidFill>
          <a:ln w="9525">
            <a:solidFill>
              <a:srgbClr val="EC3013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22879" y="3929807"/>
            <a:ext cx="3166006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3150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↑83%</a:t>
            </a:r>
            <a:endParaRPr lang="en-US" sz="3150" dirty="0"/>
          </a:p>
        </p:txBody>
      </p:sp>
      <p:sp>
        <p:nvSpPr>
          <p:cNvPr id="33" name="Text 31"/>
          <p:cNvSpPr/>
          <p:nvPr/>
        </p:nvSpPr>
        <p:spPr>
          <a:xfrm>
            <a:off x="13922879" y="4549825"/>
            <a:ext cx="31660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Adh AUROC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36126" y="5273725"/>
            <a:ext cx="6708874" cy="2007245"/>
          </a:xfrm>
          <a:prstGeom prst="rect">
            <a:avLst/>
          </a:prstGeom>
          <a:solidFill>
            <a:srgbClr val="2563EB">
              <a:alpha val="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436126" y="5273725"/>
            <a:ext cx="38100" cy="200724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10740926" y="5502325"/>
            <a:ext cx="6321495" cy="158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reference errors found in TatQA — both available gt_adherence=0 rows contain real arithmetic errors in RAGBench's own reference responses. AUROC on this sample cannot validate judge quality.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762000"/>
            <a:ext cx="3655070" cy="679996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8750" y="895350"/>
            <a:ext cx="319322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spc="168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KNOWLEDGE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88570" y="939552"/>
            <a:ext cx="303716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HOTPOTQA · MSMARCO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784896"/>
            <a:ext cx="7772400" cy="1880890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784896"/>
            <a:ext cx="38100" cy="188089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013496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ASYMMETRY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7800" y="2462957"/>
            <a:ext cx="7416927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HotpotQA (multi-hop reasoning) vs. MSMARCO (single-hop factoid). Optimal config differs sharply — there is no single "best" for both.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3856286"/>
            <a:ext cx="7772400" cy="4212729"/>
          </a:xfrm>
          <a:prstGeom prst="rect">
            <a:avLst/>
          </a:prstGeom>
          <a:ln w="9525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9225" y="4132511"/>
            <a:ext cx="7941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2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PER OBJECTIVE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19225" y="5114479"/>
            <a:ext cx="72199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4675436"/>
            <a:ext cx="324458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HotpotQA Adherence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55818" y="4675436"/>
            <a:ext cx="1521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v25 · 0.957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19225" y="5257354"/>
            <a:ext cx="7941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temp=0.3, n=25, seed=88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19225" y="6239321"/>
            <a:ext cx="72199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419225" y="5800279"/>
            <a:ext cx="310363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MSMARCO Adherence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381577" y="5800279"/>
            <a:ext cx="13833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v9 · 0.929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19225" y="6382196"/>
            <a:ext cx="7941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 dense, no BM25/MMR/reranker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9225" y="6925121"/>
            <a:ext cx="352682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Balanced (both &gt;0.7)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627168" y="6925121"/>
            <a:ext cx="221320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 · 0.875/0.705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9225" y="7497514"/>
            <a:ext cx="7941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sentence-window, overlap=4, λ=0.6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72600" y="1784896"/>
            <a:ext cx="38100" cy="220563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77400" y="2013496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LESSON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77400" y="2462957"/>
            <a:ext cx="7416927" cy="1337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There is no single "best" config for GK. The choice depends entirely on whether both domains need to score well, or you're optimizing for one. Any cross-domain config sacrifices something on one side.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372600" y="4181029"/>
            <a:ext cx="38100" cy="188089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77400" y="4409629"/>
            <a:ext cx="79209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COMPLETENESS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77400" y="4859089"/>
            <a:ext cx="7416927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v25 achieves 0.381 pooled Completeness RMSE — temp=0.3 produces focused multi-sentence responses that match ground-truth coverage.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CROSS-DOMAIN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391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Scaffolding Generalizes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450604"/>
            <a:ext cx="7810500" cy="2530376"/>
          </a:xfrm>
          <a:prstGeom prst="rect">
            <a:avLst/>
          </a:prstGeom>
          <a:solidFill>
            <a:srgbClr val="EC301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50604"/>
            <a:ext cx="38100" cy="2530376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2679204"/>
            <a:ext cx="7962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05 — LENIENCY PATTERN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7800" y="3128665"/>
            <a:ext cx="7456170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gpt-oss-120b inconsistently marks non-factual "to find X, we look at Y" sentences as unsupported — confirmed across FinQA, TatQA, Biomedical, and two different question samples. Real model behavior, not a data artifact.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5209580"/>
            <a:ext cx="38100" cy="2530376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5438180"/>
            <a:ext cx="79629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b="1" spc="108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06 — SMALL-SAMPLE CAVEAT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47800" y="5887641"/>
            <a:ext cx="7456170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scoreboards are small-sample results. Re-testing at larger n (TatQA n=78, FinQA n=39) showed substantially worse RMSE in both domains — same direction and magnitude. Adopted configs' numbers are best-case, not corpus-wide guarantees.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334500" y="2450604"/>
            <a:ext cx="7810500" cy="2577108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8825" y="2764929"/>
            <a:ext cx="79000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20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V19 &amp; V25 BOTH ESCAPE THE TRIANGLE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48825" y="3250704"/>
            <a:ext cx="7397306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approaches to the same goal: force the model to verify before answering. v25 uses JSON decoupling; v19 uses a lighter chain-of-thought constraint.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34500" y="5256312"/>
            <a:ext cx="7810500" cy="2577108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8825" y="5570637"/>
            <a:ext cx="79000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spc="120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UNIVERSAL OPTIMAL CONFIG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48825" y="6056412"/>
            <a:ext cx="7397306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domain selects for different retrieval and generation behaviours. A config tuned for legal clause precision actively harms biomedical completeness.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ENCOUNTERED DURING DEVELOPMENT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391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26804"/>
            <a:ext cx="5130701" cy="6998196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3050" y="3003054"/>
            <a:ext cx="457200" cy="4572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504950" y="30030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43050" y="3688854"/>
            <a:ext cx="4763661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Token Limits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43050" y="4448919"/>
            <a:ext cx="4460519" cy="2597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API key daily token limits were exhausted during multi-model testing, which prevented us from testing a larger number of samples and configurations within the planned timeline.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78501" y="2526804"/>
            <a:ext cx="5130850" cy="6998196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78551" y="3003054"/>
            <a:ext cx="457200" cy="4572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1" name="Text 9"/>
          <p:cNvSpPr/>
          <p:nvPr/>
        </p:nvSpPr>
        <p:spPr>
          <a:xfrm>
            <a:off x="6940451" y="30030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78551" y="3688854"/>
            <a:ext cx="4460672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Non-Determinism Across Domains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78551" y="4980384"/>
            <a:ext cx="4460672" cy="2963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pipeline configuration produced significantly different metric results across domains. This made it impossible to identify a single universally optimal setup and required separate per-domain optimization.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14150" y="2526804"/>
            <a:ext cx="5130850" cy="6998196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14200" y="3003054"/>
            <a:ext cx="457200" cy="4572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76100" y="30030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77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14200" y="3688854"/>
            <a:ext cx="4460672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the Next Configuration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414200" y="4980384"/>
            <a:ext cx="4460672" cy="2963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each iteration, selecting the next configuration required balancing multiple competing objectives — Adherence vs. Utilization, retrieval depth vs. precision — with no clear gradient to follow.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&amp; ACKNOWLEDGEMENTS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010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289697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07754"/>
            <a:ext cx="196304" cy="667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453604" y="2488704"/>
            <a:ext cx="7646407" cy="686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RAGBench: Explaining Retrieval Augmented Generation and Grounded Question Answering.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arXiv:2407.11005 </a:t>
            </a:r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(2024).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1143000" y="3942606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70672"/>
            <a:ext cx="196304" cy="35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453604" y="3451622"/>
            <a:ext cx="5622633" cy="376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API Documentation.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console.groq.com/docs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143000" y="4905524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123581"/>
            <a:ext cx="196304" cy="667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453604" y="4104531"/>
            <a:ext cx="7646407" cy="686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LanceDB: Serverless Vector Database.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lancedb.github.io/lancedb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143000" y="5839867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086499"/>
            <a:ext cx="196304" cy="639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453604" y="5067449"/>
            <a:ext cx="7646407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FAISS: A Library for Efficient Similarity Search. Facebook AI Research.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143000" y="6774210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020842"/>
            <a:ext cx="196304" cy="639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453604" y="6001792"/>
            <a:ext cx="7646407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Sentence-Transformers: Multilingual Sentence, Paragraph, and Image Embeddings. HuggingFace.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9410700" y="2979688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410700" y="2507754"/>
            <a:ext cx="196304" cy="35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721304" y="2488704"/>
            <a:ext cx="6888526" cy="376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Dataset: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galileo-ai/ragbench</a:t>
            </a:r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HuggingFace Hub.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9410700" y="4281190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410700" y="3160663"/>
            <a:ext cx="196304" cy="1006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9721304" y="3141613"/>
            <a:ext cx="7646407" cy="102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Robertson, S. &amp; Zaragoza, H. The Probabilistic Relevance Framework: BM25 and Beyond.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 and Trends in Information Retrieval </a:t>
            </a:r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(2009).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410700" y="5554117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10700" y="4462165"/>
            <a:ext cx="196304" cy="977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9721304" y="4443115"/>
            <a:ext cx="7646407" cy="99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Carbonell, J. &amp; Goldstein, J. The Use of MMR, Diversity-Based Reranking for Reordering Documents and Producing Summaries.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SIGIR </a:t>
            </a:r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(1998).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9410700" y="6517035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410700" y="5735092"/>
            <a:ext cx="196304" cy="667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9721304" y="5716042"/>
            <a:ext cx="7646407" cy="686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Chen, J. et al. Benchmarking Large Language Models in Retrieval-Augmented Generation.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arXiv:2309.01431 </a:t>
            </a:r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(2023).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9410700" y="7479953"/>
            <a:ext cx="77343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410700" y="6698010"/>
            <a:ext cx="316409" cy="667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9841409" y="6678960"/>
            <a:ext cx="7522699" cy="686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522"/>
              </a:lnSpc>
              <a:buNone/>
            </a:pPr>
            <a:r>
              <a:rPr lang="en-US" sz="15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Gradio app deployed in GitHub Spaces: </a:t>
            </a:r>
            <a:pPr algn="l" indent="0" marL="0">
              <a:lnSpc>
                <a:spcPct val="141522"/>
              </a:lnSpc>
              <a:buNone/>
            </a:pPr>
            <a:r>
              <a:rPr lang="en-US" sz="1575" i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pritvish.github.io/ragbench-top3-demo/rag-demo/</a:t>
            </a:r>
            <a:endParaRPr lang="en-US" sz="15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2258" y="3656261"/>
            <a:ext cx="5603334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9527"/>
              </a:lnSpc>
              <a:buNone/>
            </a:pPr>
            <a:r>
              <a:rPr lang="en-US" sz="9000" b="1" spc="-270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108423" y="5317331"/>
            <a:ext cx="1007100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765"/>
              </a:lnSpc>
              <a:buNone/>
            </a:pPr>
            <a:r>
              <a:rPr lang="en-US" sz="2250" spc="225" kern="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· TRACe Framework · AUROC Evaluation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952839" y="6217444"/>
            <a:ext cx="238232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spc="420" kern="0" dirty="0">
                <a:solidFill>
                  <a:srgbClr val="F0EDE8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232462" y="9420225"/>
            <a:ext cx="78229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2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Arhan · Dhananjay · Pritvish · Venkat · IIIT Hyderabad · 2026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— RELIABILITY GAP BENCHMARK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010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RGB: Four Robustness Abilities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374404"/>
            <a:ext cx="3829050" cy="6055221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9225" y="2650629"/>
            <a:ext cx="381000" cy="381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381125" y="265062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19225" y="3184029"/>
            <a:ext cx="36042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Robustness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19225" y="3779341"/>
            <a:ext cx="337489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accuracy hold as irrelevant-but-topically-related passages are mixed into the retrieved set? Tested at noise ratios 0.0 → 0.8.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9225" y="7887742"/>
            <a:ext cx="360426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↑ higher is better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00650" y="2374404"/>
            <a:ext cx="3829050" cy="6055221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76875" y="2650629"/>
            <a:ext cx="381000" cy="381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438775" y="265062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76875" y="3184029"/>
            <a:ext cx="36042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Rejection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476875" y="3779341"/>
            <a:ext cx="337489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the model recognize when none of the 5 retrieved passages answer the question, and refuse instead of guessing?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76875" y="7887742"/>
            <a:ext cx="360426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 = refusals ÷ all queries ↑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58300" y="2374404"/>
            <a:ext cx="3829050" cy="6055221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34525" y="2650629"/>
            <a:ext cx="381000" cy="381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9496425" y="265062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34525" y="3184029"/>
            <a:ext cx="36042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Integration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534525" y="3779341"/>
            <a:ext cx="337489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the model synthesize one answer that requires combining evidence scattered across multiple retrieved passages, under noise?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34525" y="7887742"/>
            <a:ext cx="360426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↑ higher is better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3315950" y="2374404"/>
            <a:ext cx="3829050" cy="6055221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92175" y="2650629"/>
            <a:ext cx="3810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3554075" y="2650629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592175" y="3184029"/>
            <a:ext cx="337489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F0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Robustness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592175" y="4222254"/>
            <a:ext cx="337489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the model detect when a retrieved passage contradicts known facts, flag the error, and still answer correctly?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592175" y="7887742"/>
            <a:ext cx="360426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Detect / Correction ↑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43000" y="8772525"/>
            <a:ext cx="16002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8934450"/>
            <a:ext cx="164820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dirty="0">
                <a:solidFill>
                  <a:srgbClr val="F0EDE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Benchmark: RGB — Reliability Gap Benchmark, English subset (en_*.json), served via Groq API · Models: Llama-3.1-8B &amp; 3.3-70B · Qwen3-27B · GPT-OSS-20B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spc="198" kern="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— RELIABILITY GAP BENCHMARK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201043"/>
            <a:ext cx="176022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5400" b="1" spc="-10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RGB: Results Summary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298204"/>
            <a:ext cx="16002000" cy="57150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50654"/>
            <a:ext cx="2665065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431554"/>
            <a:ext cx="23640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b="1" spc="90" kern="0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08065" y="2850654"/>
            <a:ext cx="3178373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8" name="Text 6"/>
          <p:cNvSpPr/>
          <p:nvPr/>
        </p:nvSpPr>
        <p:spPr>
          <a:xfrm>
            <a:off x="3998565" y="2431554"/>
            <a:ext cx="28927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b="1" spc="90" kern="0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(N)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86439" y="2850654"/>
            <a:ext cx="2533501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0" name="Text 8"/>
          <p:cNvSpPr/>
          <p:nvPr/>
        </p:nvSpPr>
        <p:spPr>
          <a:xfrm>
            <a:off x="7176939" y="2431554"/>
            <a:ext cx="22287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b="1" spc="90" kern="0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MODEL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19940" y="2850654"/>
            <a:ext cx="2518767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2" name="Text 10"/>
          <p:cNvSpPr/>
          <p:nvPr/>
        </p:nvSpPr>
        <p:spPr>
          <a:xfrm>
            <a:off x="9710440" y="2431554"/>
            <a:ext cx="22139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b="1" spc="90" kern="0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038707" y="2850654"/>
            <a:ext cx="5106293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4" name="Text 12"/>
          <p:cNvSpPr/>
          <p:nvPr/>
        </p:nvSpPr>
        <p:spPr>
          <a:xfrm>
            <a:off x="12229207" y="2431554"/>
            <a:ext cx="48784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1500" b="1" spc="90" kern="0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3786783"/>
            <a:ext cx="2665065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3022104"/>
            <a:ext cx="2364017" cy="6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Robustness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808065" y="3786783"/>
            <a:ext cx="317837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3998565" y="3022104"/>
            <a:ext cx="2892725" cy="6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en_refine.json (n=300*)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986439" y="3786783"/>
            <a:ext cx="2533501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Text 18"/>
          <p:cNvSpPr/>
          <p:nvPr/>
        </p:nvSpPr>
        <p:spPr>
          <a:xfrm>
            <a:off x="7176939" y="3022104"/>
            <a:ext cx="2228701" cy="6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llama-3.1-8b-instant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519940" y="3786783"/>
            <a:ext cx="2518767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Text 20"/>
          <p:cNvSpPr/>
          <p:nvPr/>
        </p:nvSpPr>
        <p:spPr>
          <a:xfrm>
            <a:off x="9710440" y="3022104"/>
            <a:ext cx="2213967" cy="6503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98.7 → 95.0%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038707" y="3786783"/>
            <a:ext cx="510629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12229207" y="3022104"/>
            <a:ext cx="4878482" cy="6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Near-ceiling across all ratios; only dips at noise=0.8.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3796308"/>
            <a:ext cx="16002000" cy="1225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5012382"/>
            <a:ext cx="2665065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3948708"/>
            <a:ext cx="2364017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Rejection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3808065" y="5012382"/>
            <a:ext cx="317837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Text 27"/>
          <p:cNvSpPr/>
          <p:nvPr/>
        </p:nvSpPr>
        <p:spPr>
          <a:xfrm>
            <a:off x="3998565" y="3948708"/>
            <a:ext cx="2892725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en_refine.json, noise=1.0 (n=300)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986439" y="5012382"/>
            <a:ext cx="2533501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9"/>
          <p:cNvSpPr/>
          <p:nvPr/>
        </p:nvSpPr>
        <p:spPr>
          <a:xfrm>
            <a:off x="7176939" y="3948708"/>
            <a:ext cx="2228701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openai/gpt-oss-20b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519940" y="5012382"/>
            <a:ext cx="2518767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3" name="Text 31"/>
          <p:cNvSpPr/>
          <p:nvPr/>
        </p:nvSpPr>
        <p:spPr>
          <a:xfrm>
            <a:off x="9710440" y="3948708"/>
            <a:ext cx="2213967" cy="949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76.33% Rej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038707" y="5012382"/>
            <a:ext cx="510629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33"/>
          <p:cNvSpPr/>
          <p:nvPr/>
        </p:nvSpPr>
        <p:spPr>
          <a:xfrm>
            <a:off x="12229207" y="3948708"/>
            <a:ext cx="4878482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Best-calibrated, lowest hallucination rate. All 3 beat paper's 31% baseline.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3000" y="5934224"/>
            <a:ext cx="2665065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0" y="5174307"/>
            <a:ext cx="2364017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Integration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3808065" y="5934224"/>
            <a:ext cx="317837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3998565" y="5174307"/>
            <a:ext cx="2892725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en_int.json (n=50, pilot)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986439" y="5934224"/>
            <a:ext cx="2533501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1" name="Text 39"/>
          <p:cNvSpPr/>
          <p:nvPr/>
        </p:nvSpPr>
        <p:spPr>
          <a:xfrm>
            <a:off x="7176939" y="5174307"/>
            <a:ext cx="2228701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llama-3.3-70b-versatile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519940" y="5934224"/>
            <a:ext cx="2518767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9710440" y="5174307"/>
            <a:ext cx="2213967" cy="64561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90.0 → 88.0%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2038707" y="5934224"/>
            <a:ext cx="510629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Text 43"/>
          <p:cNvSpPr/>
          <p:nvPr/>
        </p:nvSpPr>
        <p:spPr>
          <a:xfrm>
            <a:off x="12229207" y="5174307"/>
            <a:ext cx="4878482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Holds up best under noise; 8B model degrades hardest (84.0% → 62.0%).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143000" y="5943749"/>
            <a:ext cx="16002000" cy="92184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" y="6856065"/>
            <a:ext cx="2665065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0" y="6096149"/>
            <a:ext cx="2364017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Counterfactual Robustness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3808065" y="6856065"/>
            <a:ext cx="317837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0" name="Text 48"/>
          <p:cNvSpPr/>
          <p:nvPr/>
        </p:nvSpPr>
        <p:spPr>
          <a:xfrm>
            <a:off x="3998565" y="6096149"/>
            <a:ext cx="2892725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en_fact.json (n=100)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6986439" y="6856065"/>
            <a:ext cx="2533501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Text 50"/>
          <p:cNvSpPr/>
          <p:nvPr/>
        </p:nvSpPr>
        <p:spPr>
          <a:xfrm>
            <a:off x="7176939" y="6096149"/>
            <a:ext cx="2228701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qwen/qwen3.6-27b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9519940" y="6856065"/>
            <a:ext cx="2518767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9710440" y="6096149"/>
            <a:ext cx="2213967" cy="64561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95.0 ED · 86.3 CR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2038707" y="6856065"/>
            <a:ext cx="5106293" cy="9525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6" name="Text 54"/>
          <p:cNvSpPr/>
          <p:nvPr/>
        </p:nvSpPr>
        <p:spPr>
          <a:xfrm>
            <a:off x="12229207" y="6096149"/>
            <a:ext cx="4878482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lead in error detection over both Llama models (37% / 52% ED).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143000" y="7137053"/>
            <a:ext cx="28575" cy="1100138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58" name="Text 56"/>
          <p:cNvSpPr/>
          <p:nvPr/>
        </p:nvSpPr>
        <p:spPr>
          <a:xfrm>
            <a:off x="1362075" y="7270403"/>
            <a:ext cx="7713726" cy="871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Bug Fixed: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Unicode narrow-no-break-space / smart-punctuation mismatch silently broke the exact-match scorer for openai/gpt-oss-20b. Raw scores: 6–12%; corrected: 60–78%.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58300" y="7137053"/>
            <a:ext cx="28575" cy="110013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60" name="Text 58"/>
          <p:cNvSpPr/>
          <p:nvPr/>
        </p:nvSpPr>
        <p:spPr>
          <a:xfrm>
            <a:off x="9477375" y="7270403"/>
            <a:ext cx="7713726" cy="871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gemma2-9b-it </a:t>
            </a:r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deprecated by Groq (Oct 2025), replaced with openai/gpt-oss-20b across all four RGB abilities. Sample sizes differ by ability.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2026-08-09T04:03:04Z</dcterms:created>
  <dcterms:modified xsi:type="dcterms:W3CDTF">2026-08-09T04:03:04Z</dcterms:modified>
</cp:coreProperties>
</file>